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We're CareerPilot AI — an AI career search and application agent that turns a resume into the right opportunity, not just a list of jobs.
KEY POINT: Set the tone in 10 seconds — confident, product-first, not a slideshow of features.
JURY Q: 'Why should we select your project?' A: Because it solves the exact problem stated in the brief with a working web + mobile product and AI at the core, not bolted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Job seekers don't struggle to find jobs — they struggle to find jobs that actually fit them. Every step here costs time: searching, interpreting, modifying, tracking.
KEY POINT: Reframe the problem from 'search' to 'fit'.
JURY Q: 'What problem are you solving?' A: The gap between generic keyword filters and a candidate's real question — why is this job right for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traditional portal is a three-step keyword pipe. CareerPilot is an eight-step understanding pipe — from resume to tracked application.
KEY POINT: This is the single clearest 'why we're different' slide — let it breathe.
JURY Q: 'How is semantic matching different from keyword matching?' A: Keyword matching checks for string overlap; semantic matching understands meaning, so a candidate with 'led a team of 5 engineers' matches 'management experience' even without that exact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486400" cy="5486400"/>
          </a:xfrm>
          <a:prstGeom prst="ellipse">
            <a:avLst/>
          </a:prstGeom>
          <a:solidFill>
            <a:srgbClr val="4C5FE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DD4E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SEARCH &amp; APPLICATION AGENT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AI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Resume to Right Opportunity.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40645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40645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3977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532120"/>
            <a:ext cx="5029200" cy="0"/>
          </a:xfrm>
          <a:prstGeom prst="line">
            <a:avLst/>
          </a:prstGeom>
          <a:noFill/>
          <a:ln w="12700">
            <a:solidFill>
              <a:srgbClr val="232B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THE STACK 2026  •  FINAL ROUND  •  PROBLEM 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job is easy.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job is not.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9224" y="2340864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through countless openings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9224" y="2816352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confusing job requirements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9224" y="3291840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2369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whether they actually fit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" y="3767328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124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resumes for every role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9224" y="4242816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187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skills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9224" y="4718304"/>
            <a:ext cx="256032" cy="256032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663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scattered applications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6858000" cy="777240"/>
          </a:xfrm>
          <a:prstGeom prst="roundRect">
            <a:avLst>
              <a:gd name="adj" fmla="val 10588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623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filters answer: </a:t>
            </a:r>
            <a:pPr indent="0" marL="0">
              <a:buNone/>
            </a:pPr>
            <a:r>
              <a:rPr lang="en-US" sz="13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contains these keywords?”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need: </a:t>
            </a:r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job right for ME?”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196596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19659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84080" y="2532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321040" y="2752344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21040" y="2752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Jobs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84080" y="3319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21040" y="3538728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21040" y="3538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784080" y="41056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321040" y="4325112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21040" y="4325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84080" y="48920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321040" y="5111496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2A1520"/>
          </a:solidFill>
          <a:ln w="12700">
            <a:solidFill>
              <a:srgbClr val="F0708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21040" y="51114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doesn't just search jobs.</a:t>
            </a:r>
            <a:endParaRPr lang="en-US" sz="2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understands the candidate.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JOB PORTAL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43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5661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41330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389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7432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55180" y="3255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3438144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34381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55180" y="3950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4133088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413308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5180" y="4645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26480" y="4828032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482803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23960" y="2743200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0" y="27432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52660" y="32552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823960" y="3438144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69680" y="34381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52660" y="3950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823960" y="4133088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0" y="413308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52660" y="4645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823960" y="4828032"/>
            <a:ext cx="2423160" cy="512064"/>
          </a:xfrm>
          <a:prstGeom prst="roundRect">
            <a:avLst>
              <a:gd name="adj" fmla="val 16071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869680" y="482803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CareerPilot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assistant that understands a resume, finds suitable opportunities, explains the match, identifies skill gaps, and manages the application journey.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246120" y="3840480"/>
            <a:ext cx="1463040" cy="1463040"/>
          </a:xfrm>
          <a:prstGeom prst="ellipse">
            <a:avLst/>
          </a:prstGeom>
          <a:solidFill>
            <a:srgbClr val="4C5FE0"/>
          </a:solidFill>
          <a:ln w="25400">
            <a:solidFill>
              <a:srgbClr val="2D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3840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251460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86200" y="272491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79392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Job Matching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251460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72491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34072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74243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16152" y="5532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553212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86200" y="574243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79392" y="5532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553212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0" y="5742432"/>
            <a:ext cx="310896" cy="31089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34072" y="5532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1417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capabilities. One connected intelligence layer.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CAREERPILOT AI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Entire Product, In 10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23570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2235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8745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4760" y="223570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187452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1104" y="223570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1" name="Text 9"/>
          <p:cNvSpPr/>
          <p:nvPr/>
        </p:nvSpPr>
        <p:spPr>
          <a:xfrm>
            <a:off x="4261104" y="2235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745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Understanding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223570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0960" y="187452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27264" y="223570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6" name="Text 14"/>
          <p:cNvSpPr/>
          <p:nvPr/>
        </p:nvSpPr>
        <p:spPr>
          <a:xfrm>
            <a:off x="7827264" y="2235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7888" y="18745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Candidate Profile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2114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80960" y="34290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27264" y="379018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21" name="Text 19"/>
          <p:cNvSpPr/>
          <p:nvPr/>
        </p:nvSpPr>
        <p:spPr>
          <a:xfrm>
            <a:off x="7827264" y="3790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Understanding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37901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14800" y="34290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61104" y="3790188"/>
            <a:ext cx="329184" cy="32918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6" name="Text 24"/>
          <p:cNvSpPr/>
          <p:nvPr/>
        </p:nvSpPr>
        <p:spPr>
          <a:xfrm>
            <a:off x="4261104" y="3790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81728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37901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34290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" y="379018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3790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988820" y="4480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" y="534466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34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4983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94760" y="53446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114800" y="49834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61104" y="534466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41" name="Text 39"/>
          <p:cNvSpPr/>
          <p:nvPr/>
        </p:nvSpPr>
        <p:spPr>
          <a:xfrm>
            <a:off x="4261104" y="534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81728" y="4983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60920" y="53446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680960" y="49834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27264" y="5344668"/>
            <a:ext cx="329184" cy="32918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46" name="Text 44"/>
          <p:cNvSpPr/>
          <p:nvPr/>
        </p:nvSpPr>
        <p:spPr>
          <a:xfrm>
            <a:off x="7827264" y="534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47888" y="4983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Not a Feature. AI Is the Engine.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2808" y="169164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121B33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32808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RESUME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12968" y="21945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84168" y="2395728"/>
            <a:ext cx="4023360" cy="502920"/>
          </a:xfrm>
          <a:prstGeom prst="roundRect">
            <a:avLst>
              <a:gd name="adj" fmla="val 16364"/>
            </a:avLst>
          </a:prstGeom>
          <a:solidFill>
            <a:srgbClr val="4C5FE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84168" y="2395728"/>
            <a:ext cx="4023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UNDERSTANDING — AI LAYER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12968" y="2898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2648" y="3099816"/>
            <a:ext cx="5486400" cy="502920"/>
          </a:xfrm>
          <a:prstGeom prst="roundRect">
            <a:avLst>
              <a:gd name="adj" fmla="val 1636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2648" y="3099816"/>
            <a:ext cx="5486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PROFILE  •  Skills · Education · Experience ·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69968" y="3785616"/>
            <a:ext cx="2651760" cy="0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69968" y="3785616"/>
            <a:ext cx="0" cy="256032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1728" y="3785616"/>
            <a:ext cx="0" cy="256032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2688" y="4059936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72688" y="4059936"/>
            <a:ext cx="2194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ANALYSIS 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4059936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4448" y="4059936"/>
            <a:ext cx="2194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69968" y="4562856"/>
            <a:ext cx="0" cy="201168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21728" y="4562856"/>
            <a:ext cx="0" cy="201168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9968" y="4562856"/>
            <a:ext cx="2651760" cy="0"/>
          </a:xfrm>
          <a:prstGeom prst="line">
            <a:avLst/>
          </a:prstGeom>
          <a:noFill/>
          <a:ln w="15875">
            <a:solidFill>
              <a:srgbClr val="6E77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2968" y="45628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267048" y="4764024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8B6EF2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67048" y="4764024"/>
            <a:ext cx="3657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12968" y="52669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078328" y="5468112"/>
            <a:ext cx="6035040" cy="502920"/>
          </a:xfrm>
          <a:prstGeom prst="roundRect">
            <a:avLst>
              <a:gd name="adj" fmla="val 16364"/>
            </a:avLst>
          </a:prstGeom>
          <a:solidFill>
            <a:srgbClr val="121B33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78328" y="5468112"/>
            <a:ext cx="6035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  •  Match % · Strengths · Missing Skills · Reasons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12968" y="5971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718408" y="6172200"/>
            <a:ext cx="4754880" cy="502920"/>
          </a:xfrm>
          <a:prstGeom prst="roundRect">
            <a:avLst>
              <a:gd name="adj" fmla="val 16364"/>
            </a:avLst>
          </a:prstGeom>
          <a:solidFill>
            <a:srgbClr val="4C5FE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18408" y="6172200"/>
            <a:ext cx="4754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RECOMMENDATIONS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+ Mobile = One Career Intelligence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029200" cy="2834640"/>
          </a:xfrm>
          <a:prstGeom prst="roundRect">
            <a:avLst>
              <a:gd name="adj" fmla="val 1613"/>
            </a:avLst>
          </a:prstGeom>
          <a:solidFill>
            <a:srgbClr val="0C1122"/>
          </a:solidFill>
          <a:ln w="12700">
            <a:solidFill>
              <a:srgbClr val="232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112264"/>
            <a:ext cx="128016" cy="12801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2112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89304" y="2112264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1289304" y="2112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45336" y="211226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1545336" y="2112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993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6974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26974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26974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388620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8620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388620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88620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88620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88620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1920240"/>
            <a:ext cx="1965960" cy="3566160"/>
          </a:xfrm>
          <a:prstGeom prst="roundRect">
            <a:avLst>
              <a:gd name="adj" fmla="val 10233"/>
            </a:avLst>
          </a:prstGeom>
          <a:solidFill>
            <a:srgbClr val="0C1122"/>
          </a:solidFill>
          <a:ln w="19050">
            <a:solidFill>
              <a:srgbClr val="232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11112" y="2423160"/>
            <a:ext cx="1636776" cy="1280160"/>
          </a:xfrm>
          <a:prstGeom prst="roundRect">
            <a:avLst>
              <a:gd name="adj" fmla="val 4286"/>
            </a:avLst>
          </a:prstGeom>
          <a:solidFill>
            <a:srgbClr val="161D36"/>
          </a:solidFill>
          <a:ln w="9525">
            <a:solidFill>
              <a:srgbClr val="8B6E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2423160"/>
            <a:ext cx="1636776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11112" y="3840480"/>
            <a:ext cx="1636776" cy="1280160"/>
          </a:xfrm>
          <a:prstGeom prst="roundRect">
            <a:avLst>
              <a:gd name="adj" fmla="val 4286"/>
            </a:avLst>
          </a:prstGeom>
          <a:solidFill>
            <a:srgbClr val="161D36"/>
          </a:solidFill>
          <a:ln w="9525">
            <a:solidFill>
              <a:srgbClr val="2DD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25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SCREEN PROVES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2286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3252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home for career progress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3063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732520" y="3319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32520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73252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candidate what to improve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32520" y="4617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32520" y="4873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application stage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representation of the working web and mobile applications.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Resume. One Intelligent Career Journey.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456" y="2057400"/>
            <a:ext cx="457200" cy="457200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6" name="Text 4"/>
          <p:cNvSpPr/>
          <p:nvPr/>
        </p:nvSpPr>
        <p:spPr>
          <a:xfrm>
            <a:off x="1362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uploads a real resume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24185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187452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2057400"/>
            <a:ext cx="457200" cy="457200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2" name="Text 10"/>
          <p:cNvSpPr/>
          <p:nvPr/>
        </p:nvSpPr>
        <p:spPr>
          <a:xfrm>
            <a:off x="3648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44368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Candidate Profile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33375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experience &amp; qualifications extracted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24185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187452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34456" y="2057400"/>
            <a:ext cx="457200" cy="457200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8" name="Text 16"/>
          <p:cNvSpPr/>
          <p:nvPr/>
        </p:nvSpPr>
        <p:spPr>
          <a:xfrm>
            <a:off x="5934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0368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Top Jobs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33375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jobs ranked by relevance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05472" y="24185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06640" y="187452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0456" y="2057400"/>
            <a:ext cx="457200" cy="457200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0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16368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Match + Skill Gaps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43800" y="33375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reasons and missing skills shown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91472" y="24185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92640" y="187452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06456" y="2057400"/>
            <a:ext cx="457200" cy="457200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30" name="Text 28"/>
          <p:cNvSpPr/>
          <p:nvPr/>
        </p:nvSpPr>
        <p:spPr>
          <a:xfrm>
            <a:off x="105064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02368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29800" y="33375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through the application tracker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JURY SHOULD WATCH FOR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" y="4937760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93776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candidate profile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937760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93776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ranked jobs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" y="5504688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5046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 scores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5504688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5046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application tracker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CareerPilot Innovative?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402336" cy="40233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Career Matching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the meaning of skills, experience and job requirements — not simple keyword filtering.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874520"/>
            <a:ext cx="402336" cy="40233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a % score, the system explains WHY a role fits.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74520"/>
            <a:ext cx="402336" cy="40233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2396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what the candidate is missing and what to improve next.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86200"/>
            <a:ext cx="402336" cy="40233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Career Guidance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search becomes personalized to each candidate.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886200"/>
            <a:ext cx="402336" cy="402336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492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Career Journey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Discovery → Matching → Guidance → Application Tracking.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75320" y="3703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building another job board.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career intelligence layer on top of the job search.”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AI vs. a Traditional Job Portal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61D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928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PORTAL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4108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64240" cy="512064"/>
          </a:xfrm>
          <a:prstGeom prst="rect">
            <a:avLst/>
          </a:prstGeom>
          <a:solidFill>
            <a:srgbClr val="1217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1226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11226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41080" y="211226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11064240" cy="512064"/>
          </a:xfrm>
          <a:prstGeom prst="rect">
            <a:avLst/>
          </a:prstGeom>
          <a:solidFill>
            <a:srgbClr val="0D112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243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62432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1080" y="262432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136392"/>
            <a:ext cx="11064240" cy="512064"/>
          </a:xfrm>
          <a:prstGeom prst="rect">
            <a:avLst/>
          </a:prstGeom>
          <a:solidFill>
            <a:srgbClr val="12172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363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Explanation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13639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313639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64240" cy="512064"/>
          </a:xfrm>
          <a:prstGeom prst="rect">
            <a:avLst/>
          </a:prstGeom>
          <a:solidFill>
            <a:srgbClr val="0D112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4845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6484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41080" y="36484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512064"/>
          </a:xfrm>
          <a:prstGeom prst="rect">
            <a:avLst/>
          </a:prstGeom>
          <a:solidFill>
            <a:srgbClr val="12172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41605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41080" y="41605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11064240" cy="512064"/>
          </a:xfrm>
          <a:prstGeom prst="rect">
            <a:avLst/>
          </a:prstGeom>
          <a:solidFill>
            <a:srgbClr val="0D112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725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467258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41080" y="467258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5184648"/>
            <a:ext cx="11064240" cy="512064"/>
          </a:xfrm>
          <a:prstGeom prst="rect">
            <a:avLst/>
          </a:prstGeom>
          <a:solidFill>
            <a:srgbClr val="12172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1846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Assistance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518464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41080" y="518464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0" y="1600200"/>
            <a:ext cx="0" cy="4041648"/>
          </a:xfrm>
          <a:prstGeom prst="line">
            <a:avLst/>
          </a:prstGeom>
          <a:noFill/>
          <a:ln w="12700">
            <a:solidFill>
              <a:srgbClr val="232B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41080" y="1600200"/>
            <a:ext cx="0" cy="4041648"/>
          </a:xfrm>
          <a:prstGeom prst="line">
            <a:avLst/>
          </a:prstGeom>
          <a:noFill/>
          <a:ln w="12700">
            <a:solidFill>
              <a:srgbClr val="232B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788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is positioned as an intelligence layer on top of the job search — not another listing platform.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Layered, Credible, Understandable in 15 Seconds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CLIENTS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594360"/>
          </a:xfrm>
          <a:prstGeom prst="roundRect">
            <a:avLst>
              <a:gd name="adj" fmla="val 1384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120640" cy="594360"/>
          </a:xfrm>
          <a:prstGeom prst="roundRect">
            <a:avLst>
              <a:gd name="adj" fmla="val 1384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965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12968" y="25420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BACKEND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090672"/>
            <a:ext cx="10515600" cy="594360"/>
          </a:xfrm>
          <a:prstGeom prst="roundRect">
            <a:avLst>
              <a:gd name="adj" fmla="val 13846"/>
            </a:avLst>
          </a:prstGeom>
          <a:solidFill>
            <a:srgbClr val="4C5FE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09067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 •  Auth · Resume Processing · Job Management · Application Tracking · AI Orchestration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12968" y="366674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394106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215384"/>
            <a:ext cx="10515600" cy="594360"/>
          </a:xfrm>
          <a:prstGeom prst="roundRect">
            <a:avLst>
              <a:gd name="adj" fmla="val 13846"/>
            </a:avLst>
          </a:prstGeom>
          <a:solidFill>
            <a:srgbClr val="8B6EF2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215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•  Resume Understanding · Semantic Matching · Skill Gap Analysis · Explanation Generation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12968" y="4791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06577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5340096"/>
            <a:ext cx="10515600" cy="594360"/>
          </a:xfrm>
          <a:prstGeom prst="roundRect">
            <a:avLst>
              <a:gd name="adj" fmla="val 13846"/>
            </a:avLst>
          </a:prstGeom>
          <a:solidFill>
            <a:srgbClr val="121B33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34009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•  Users · Resumes · Jobs · Applications · AI Analysis · Skill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07161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uses generic layer names — swap in the exact stack (frameworks, AI provider, database) used by the actual build before presenting.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Multiple Scalable Revenue Channels.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96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9536" y="29535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29535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job matching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34107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4107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5568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insights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9536" y="38679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8679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25112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3712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36008" y="24963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1" name="Text 19"/>
          <p:cNvSpPr/>
          <p:nvPr/>
        </p:nvSpPr>
        <p:spPr>
          <a:xfrm>
            <a:off x="4636008" y="2496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matching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36008" y="29535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29535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36008" y="34107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27" name="Text 25"/>
          <p:cNvSpPr/>
          <p:nvPr/>
        </p:nvSpPr>
        <p:spPr>
          <a:xfrm>
            <a:off x="4636008" y="34107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roadmap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36008" y="38679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30" name="Text 28"/>
          <p:cNvSpPr/>
          <p:nvPr/>
        </p:nvSpPr>
        <p:spPr>
          <a:xfrm>
            <a:off x="4636008" y="38679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36008" y="43251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33" name="Text 31"/>
          <p:cNvSpPr/>
          <p:nvPr/>
        </p:nvSpPr>
        <p:spPr>
          <a:xfrm>
            <a:off x="4636008" y="43251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36008" y="4782312"/>
            <a:ext cx="146304" cy="14630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36" name="Text 34"/>
          <p:cNvSpPr/>
          <p:nvPr/>
        </p:nvSpPr>
        <p:spPr>
          <a:xfrm>
            <a:off x="4636008" y="4782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optimization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01584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30184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INSTITUTIONAL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412480" y="24963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2496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68512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&amp; universities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412480" y="29535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29535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68512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412480" y="34107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34107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68512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12480" y="3867912"/>
            <a:ext cx="146304" cy="146304"/>
          </a:xfrm>
          <a:prstGeom prst="ellipse">
            <a:avLst/>
          </a:prstGeom>
          <a:solidFill>
            <a:srgbClr val="AEB6CC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38679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68512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services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REVENUE STREAMS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03504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8B6E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0350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Subscriptions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64992" y="603504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8B6E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4992" y="60350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Subscriptions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81344" y="603504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8B6E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81344" y="60350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Service Partnerships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997696" y="603504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61D36"/>
          </a:solidFill>
          <a:ln w="12700">
            <a:solidFill>
              <a:srgbClr val="8B6E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97696" y="60350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Features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Candidate. Designed to Scale.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 Graduates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Seekers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Career Switchers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Institutes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Universities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Placement Cells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057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2651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2852928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8529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41080" y="3447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3648456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64845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Ecosystem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4242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4443984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121B33"/>
          </a:solidFill>
          <a:ln w="12700">
            <a:solidFill>
              <a:srgbClr val="2DD4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444398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Career Platform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infrastructure serves an increasing number of users as CareerPilot expands from individuals to institutions.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an AI-powered career intelligence platform that helps every individual understand where they stand, discover where they fit, and know what to do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19050">
            <a:solidFill>
              <a:srgbClr val="232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3310128"/>
            <a:ext cx="420624" cy="42062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Intelligence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64408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3310128"/>
            <a:ext cx="420624" cy="420624"/>
          </a:xfrm>
          <a:prstGeom prst="ellipse">
            <a:avLst/>
          </a:prstGeom>
          <a:solidFill>
            <a:srgbClr val="2DD4E8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6596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Job Matching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0" y="3730752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3310128"/>
            <a:ext cx="420624" cy="42062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+ Career Roadmaps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3264408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2008" y="3310128"/>
            <a:ext cx="420624" cy="420624"/>
          </a:xfrm>
          <a:prstGeom prst="ellipse">
            <a:avLst/>
          </a:prstGeom>
          <a:solidFill>
            <a:srgbClr val="4C5FE0"/>
          </a:solidFill>
          <a:ln/>
        </p:spPr>
      </p:sp>
      <p:sp>
        <p:nvSpPr>
          <p:cNvPr id="19" name="Text 17"/>
          <p:cNvSpPr/>
          <p:nvPr/>
        </p:nvSpPr>
        <p:spPr>
          <a:xfrm>
            <a:off x="692200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Intelligence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0" y="3730752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25128" y="3310128"/>
            <a:ext cx="420624" cy="420624"/>
          </a:xfrm>
          <a:prstGeom prst="ellipse">
            <a:avLst/>
          </a:prstGeom>
          <a:solidFill>
            <a:srgbClr val="8B6EF2"/>
          </a:solidFill>
          <a:ln/>
        </p:spPr>
      </p:sp>
      <p:sp>
        <p:nvSpPr>
          <p:cNvPr id="23" name="Text 21"/>
          <p:cNvSpPr/>
          <p:nvPr/>
        </p:nvSpPr>
        <p:spPr>
          <a:xfrm>
            <a:off x="902512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Career Copilot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35440" y="3264408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28248" y="3310128"/>
            <a:ext cx="420624" cy="420624"/>
          </a:xfrm>
          <a:prstGeom prst="ellipse">
            <a:avLst/>
          </a:prstGeom>
          <a:solidFill>
            <a:srgbClr val="8B6EF2"/>
          </a:solidFill>
          <a:ln/>
        </p:spPr>
      </p:sp>
      <p:sp>
        <p:nvSpPr>
          <p:cNvPr id="27" name="Text 25"/>
          <p:cNvSpPr/>
          <p:nvPr/>
        </p:nvSpPr>
        <p:spPr>
          <a:xfrm>
            <a:off x="1112824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28632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Career Intelligence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1338560" y="3730752"/>
            <a:ext cx="0" cy="256032"/>
          </a:xfrm>
          <a:prstGeom prst="line">
            <a:avLst/>
          </a:prstGeom>
          <a:noFill/>
          <a:ln w="12700">
            <a:solidFill>
              <a:srgbClr val="6E77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61D36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367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POSSIBILITIES  (roadmap — not yet implemented)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simulation  •  Continuous skill tracking  •  Personalized learning recommendations  •  Career trajectory prediction  •  Multilingual assistance  •  Institution-level placement intelligence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Job Search to Career Intelligence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2A152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confusion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26060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2A152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70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applications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32735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2A152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438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39410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2A152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105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 visibility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46085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773168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2A1520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773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tracking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0F231D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AI-understood profile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0" y="26060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2770632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0F231D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2770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opportunities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32735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17920" y="3438144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0F231D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438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0" y="39410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17920" y="4105656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0F231D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105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skill gaps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95360" y="46085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17920" y="4773168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0F231D"/>
          </a:solidFill>
          <a:ln w="12700">
            <a:solidFill>
              <a:srgbClr val="232B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4773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applications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062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search effort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8892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88920" y="6062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 role fits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6062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improve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69480" y="6062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informed decisions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0976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0" y="6062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 made more accessible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4C5FE0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2DD4E8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JOB SEARCH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ISN'T MORE JOBS.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BETTER MATCHES.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12700">
            <a:solidFill>
              <a:srgbClr val="232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AI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Resume to Right Opportunity.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THE STACK 2026  •  FINAL 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2026-08-08T10:35:56Z</dcterms:created>
  <dcterms:modified xsi:type="dcterms:W3CDTF">2026-08-08T10:35:56Z</dcterms:modified>
</cp:coreProperties>
</file>